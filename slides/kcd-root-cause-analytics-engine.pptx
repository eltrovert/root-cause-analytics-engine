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</p:sldMasterIdLst>
  <p:notesMasterIdLst>
    <p:notesMasterId r:id="rId5"/>
  </p:notesMasterIdLst>
  <p:sldIdLst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48"/>
    <p:sldId id="283" r:id="rId49"/>
    <p:sldId id="284" r:id="rId50"/>
    <p:sldId id="285" r:id="rId51"/>
    <p:sldId id="286" r:id="rId52"/>
    <p:sldId id="287" r:id="rId53"/>
    <p:sldId id="288" r:id="rId54"/>
    <p:sldId id="289" r:id="rId55"/>
    <p:sldId id="290" r:id="rId56"/>
    <p:sldId id="291" r:id="rId57"/>
    <p:sldId id="292" r:id="rId58"/>
    <p:sldId id="293" r:id="rId59"/>
    <p:sldId id="294" r:id="rId60"/>
    <p:sldId id="295" r:id="rId61"/>
    <p:sldId id="296" r:id="rId62"/>
    <p:sldId id="297" r:id="rId63"/>
  </p:sldIdLst>
  <p:sldSz cy="5143500" cx="9144000"/>
  <p:notesSz cx="6858000" cy="9144000"/>
  <p:embeddedFontLst>
    <p:embeddedFont>
      <p:font typeface="Chivo Mono Medium"/>
      <p:regular r:id="rId24"/>
      <p:bold r:id="rId25"/>
      <p:italic r:id="rId26"/>
      <p:boldItalic r:id="rId27"/>
    </p:embeddedFont>
    <p:embeddedFont>
      <p:font typeface="Inter"/>
      <p:regular r:id="rId28"/>
      <p:bold r:id="rId29"/>
      <p:italic r:id="rId30"/>
      <p:boldItalic r:id="rId31"/>
    </p:embeddedFont>
    <p:embeddedFont>
      <p:font typeface="Chivo Mono SemiBold"/>
      <p:regular r:id="rId32"/>
      <p:bold r:id="rId33"/>
      <p:italic r:id="rId34"/>
      <p:boldItalic r:id="rId35"/>
    </p:embeddedFont>
    <p:embeddedFont>
      <p:font typeface="Chivo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4" Type="http://schemas.openxmlformats.org/officeDocument/2006/relationships/font" Target="fonts/ChivoMonoMedium-regular.fntdata"/><Relationship Id="rId25" Type="http://schemas.openxmlformats.org/officeDocument/2006/relationships/font" Target="fonts/ChivoMonoMedium-bold.fntdata"/><Relationship Id="rId26" Type="http://schemas.openxmlformats.org/officeDocument/2006/relationships/font" Target="fonts/ChivoMonoMedium-italic.fntdata"/><Relationship Id="rId27" Type="http://schemas.openxmlformats.org/officeDocument/2006/relationships/font" Target="fonts/ChivoMonoMedium-boldItalic.fntdata"/><Relationship Id="rId28" Type="http://schemas.openxmlformats.org/officeDocument/2006/relationships/font" Target="fonts/Inter-regular.fntdata"/><Relationship Id="rId29" Type="http://schemas.openxmlformats.org/officeDocument/2006/relationships/font" Target="fonts/Inter-bold.fntdata"/><Relationship Id="rId30" Type="http://schemas.openxmlformats.org/officeDocument/2006/relationships/font" Target="fonts/Inter-italic.fntdata"/><Relationship Id="rId31" Type="http://schemas.openxmlformats.org/officeDocument/2006/relationships/font" Target="fonts/Inter-boldItalic.fntdata"/><Relationship Id="rId32" Type="http://schemas.openxmlformats.org/officeDocument/2006/relationships/font" Target="fonts/ChivoMonoSemiBold-regular.fntdata"/><Relationship Id="rId33" Type="http://schemas.openxmlformats.org/officeDocument/2006/relationships/font" Target="fonts/ChivoMonoSemiBold-bold.fntdata"/><Relationship Id="rId34" Type="http://schemas.openxmlformats.org/officeDocument/2006/relationships/font" Target="fonts/ChivoMonoSemiBold-italic.fntdata"/><Relationship Id="rId35" Type="http://schemas.openxmlformats.org/officeDocument/2006/relationships/font" Target="fonts/ChivoMonoSemiBold-boldItalic.fntdata"/><Relationship Id="rId36" Type="http://schemas.openxmlformats.org/officeDocument/2006/relationships/font" Target="fonts/ChivoMono-regular.fntdata"/><Relationship Id="rId37" Type="http://schemas.openxmlformats.org/officeDocument/2006/relationships/font" Target="fonts/ChivoMono-bold.fntdata"/><Relationship Id="rId38" Type="http://schemas.openxmlformats.org/officeDocument/2006/relationships/font" Target="fonts/ChivoMono-italic.fntdata"/><Relationship Id="rId39" Type="http://schemas.openxmlformats.org/officeDocument/2006/relationships/font" Target="fonts/ChivoMono-boldItalic.fntdata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4.xml"/><Relationship Id="rId56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41.xml"/><Relationship Id="rId63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Frame the talk and set immediate expectations.</a:t>
            </a:r>
          </a:p>
          <a:p>
            <a:br/>
            <a:r>
              <a:t>TALK TRACK:</a:t>
            </a:r>
          </a:p>
          <a:p>
            <a:r>
              <a:t>• Welcome everyone. This architecture started at a real fintech client with strict regulatory constraints.</a:t>
            </a:r>
          </a:p>
          <a:p>
            <a:r>
              <a:t>• Today's demo runs on synthetic data and fits in a public repo you can test on your laptop.</a:t>
            </a:r>
          </a:p>
          <a:p>
            <a:r>
              <a:t>• Two clear non-goals: this is NOT autonomous remediation, and it does NOT replace on-call engineers.</a:t>
            </a:r>
          </a:p>
          <a:p>
            <a:br/>
            <a:r>
              <a:t>TRANSITION: Let's look at what actually happens when an incident wakes you up.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Connect with the audience's shared pain of on-call triage.</a:t>
            </a:r>
          </a:p>
          <a:p>
            <a:br/>
            <a:r>
              <a:t>TALK TRACK:</a:t>
            </a:r>
          </a:p>
          <a:p>
            <a:r>
              <a:t>• Ask the room: who has spent 40 minutes at 3am clicking 12 dashboard tabs while Slack explodes?</a:t>
            </a:r>
          </a:p>
          <a:p>
            <a:r>
              <a:t>• Typing a kubectl command or applying a patch takes 2 minutes. Finding WHAT to fix takes 40 minutes.</a:t>
            </a:r>
          </a:p>
          <a:p>
            <a:r>
              <a:t>• Alerts tell you symptoms, never the root cause.</a:t>
            </a:r>
          </a:p>
          <a:p>
            <a:br/>
            <a:r>
              <a:t>TRANSITION: The natural reaction today is: why not just hand the logs to an LLM?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Deconstruct why naive LLM debugging fails in production.</a:t>
            </a:r>
          </a:p>
          <a:p>
            <a:br/>
            <a:r>
              <a:t>TALK TRACK:</a:t>
            </a:r>
          </a:p>
          <a:p>
            <a:r>
              <a:t>• Walk through the diagram: alert triggers -&gt; LLM gets broad kubectl access -&gt; dumps gigabytes of logs.</a:t>
            </a:r>
          </a:p>
          <a:p>
            <a:r>
              <a:t>• Result: 100k tokens burned, context exhausted, and the model confuses cascade noise for the real bug.</a:t>
            </a:r>
          </a:p>
          <a:p>
            <a:r>
              <a:t>• Worse: giving an unconstrained prompt cluster-admin credentials is a critical security hole.</a:t>
            </a:r>
          </a:p>
          <a:p>
            <a:br/>
            <a:r>
              <a:t>TRANSITION: So how do disciplined SREs actually solve this? They bound the evidence first.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the strict evidence hierarchy: Metrics -&gt; Traces -&gt; Logs.</a:t>
            </a:r>
          </a:p>
          <a:p>
            <a:br/>
            <a:r>
              <a:t>TALK TRACK:</a:t>
            </a:r>
          </a:p>
          <a:p>
            <a:r>
              <a:t>• Step 1: Metrics isolate the anomaly window and narrow candidates. They prove correlation, not causation.</a:t>
            </a:r>
          </a:p>
          <a:p>
            <a:r>
              <a:t>• Step 2: Traces bound the exact distributed path. Who called who, where did the latency spike?</a:t>
            </a:r>
          </a:p>
          <a:p>
            <a:r>
              <a:t>• Step 3: Logs are queried last, for confirmation, never discovery. Querying 30 seconds of targeted logs costs nothing.</a:t>
            </a:r>
          </a:p>
          <a:p>
            <a:br/>
            <a:r>
              <a:t>TRANSITION: Where do we correlate all three? Grafana.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Establish Grafana, not the AI, as the center of evidence correlation.</a:t>
            </a:r>
          </a:p>
          <a:p>
            <a:br/>
            <a:r>
              <a:t>TALK TRACK:</a:t>
            </a:r>
          </a:p>
          <a:p>
            <a:r>
              <a:t>• Many expect MCP or an LLM to be the core architecture. It isn't.</a:t>
            </a:r>
          </a:p>
          <a:p>
            <a:r>
              <a:t>• Grafana is already your federation engine: it connects Prometheus, Loki, and Tempo with unified dashboards.</a:t>
            </a:r>
          </a:p>
          <a:p>
            <a:r>
              <a:t>• MCP is simply a thin read-only interface letting our engine query existing Grafana datasources safely.</a:t>
            </a:r>
          </a:p>
          <a:p>
            <a:br/>
            <a:r>
              <a:t>TRANSITION: Here is how we translated this enterprise pattern into an open repo.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that the demo retains genuine enterprise design principles.</a:t>
            </a:r>
          </a:p>
          <a:p>
            <a:br/>
            <a:r>
              <a:t>TALK TRACK:</a:t>
            </a:r>
          </a:p>
          <a:p>
            <a:r>
              <a:t>• Everything in proprietary production has a 1-to-1 open equivalent in the repo.</a:t>
            </a:r>
          </a:p>
          <a:p>
            <a:r>
              <a:t>• Client auth proxies become standalone MCP servers; internal telemetry becomes synthetic RED metrics.</a:t>
            </a:r>
          </a:p>
          <a:p>
            <a:r>
              <a:t>• You get the exact same state machine and validation loops in a simple Docker Compose setup.</a:t>
            </a:r>
          </a:p>
          <a:p>
            <a:br/>
            <a:r>
              <a:t>TRANSITION: Now, rule number one for production safety.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dynamic PromQL generation is banned.</a:t>
            </a:r>
          </a:p>
          <a:p>
            <a:br/>
            <a:r>
              <a:t>TALK TRACK:</a:t>
            </a:r>
          </a:p>
          <a:p>
            <a:r>
              <a:t>• Never give an LLM an open PromQL prompt in production.</a:t>
            </a:r>
          </a:p>
          <a:p>
            <a:r>
              <a:t>• Why? Complex regex or unindexed label queries can crash your Prometheus cluster right during an active incident.</a:t>
            </a:r>
          </a:p>
          <a:p>
            <a:r>
              <a:t>• Instead, SREs pre-vetted recording rules. The engine exposes named tools, and the gateway fills parameters into fixed queries.</a:t>
            </a:r>
          </a:p>
          <a:p>
            <a:br/>
            <a:r>
              <a:t>TRANSITION: And we enforce this boundary with strict schemas.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how JSON Schema provides deterministic policy enforcement.</a:t>
            </a:r>
          </a:p>
          <a:p>
            <a:br/>
            <a:r>
              <a:t>TALK TRACK:</a:t>
            </a:r>
          </a:p>
          <a:p>
            <a:r>
              <a:t>• Prompt instructions like 'please do not query broad time windows' fail under pressure.</a:t>
            </a:r>
          </a:p>
          <a:p>
            <a:r>
              <a:t>• Schemas don't negotiate: 'additionalProperties: false', enum-constrained service names, and bounded duration limits.</a:t>
            </a:r>
          </a:p>
          <a:p>
            <a:r>
              <a:t>• If an argument doesn't validate, the MCP gateway rejects it before the packet ever hits Grafana.</a:t>
            </a:r>
          </a:p>
          <a:p>
            <a:br/>
            <a:r>
              <a:t>TRANSITION: Once tools are safe, how do we structure the investigation flow?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10-stage auditable state machine.</a:t>
            </a:r>
          </a:p>
          <a:p>
            <a:br/>
            <a:r>
              <a:t>TALK TRACK:</a:t>
            </a:r>
          </a:p>
          <a:p>
            <a:r>
              <a:t>• State transitions are persisted records in a database, not internal loops in an agent's memory.</a:t>
            </a:r>
          </a:p>
          <a:p>
            <a:r>
              <a:t>• Follow the flow: Received -&gt; Planned -&gt; Collecting -&gt; Synthesizing -&gt; Human Gate.</a:t>
            </a:r>
          </a:p>
          <a:p>
            <a:r>
              <a:t>• Notice node 5: rejecting a hypothesis explicitly returns to planning. Notice 7b: automated patching is disabled by policy.</a:t>
            </a:r>
          </a:p>
          <a:p>
            <a:br/>
            <a:r>
              <a:t>TRANSITION: Let's look at how that initial plan is scoped.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planning happens before execution.</a:t>
            </a:r>
          </a:p>
          <a:p>
            <a:br/>
            <a:r>
              <a:t>TALK TRACK:</a:t>
            </a:r>
          </a:p>
          <a:p>
            <a:r>
              <a:t>• When the alert fires, it first builds a visible plan: services in scope, time boundaries, and initial hypotheses.</a:t>
            </a:r>
          </a:p>
          <a:p>
            <a:r>
              <a:t>• This plan is posted into the incident channel immediately.</a:t>
            </a:r>
          </a:p>
          <a:p>
            <a:r>
              <a:t>• If an on-call engineer joins 10 minutes late, they read a clear checklist instead of guessing what the bot is doing.</a:t>
            </a:r>
          </a:p>
          <a:p>
            <a:br/>
            <a:r>
              <a:t>TRANSITION: Who actually runs the checks? Five narrow workers.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Present the division of labor across specialized workers.</a:t>
            </a:r>
          </a:p>
          <a:p>
            <a:br/>
            <a:r>
              <a:t>TALK TRACK:</a:t>
            </a:r>
          </a:p>
          <a:p>
            <a:r>
              <a:t>• Instead of one massive agent that does everything, we deploy five bounded workers.</a:t>
            </a:r>
          </a:p>
          <a:p>
            <a:r>
              <a:t>• Each worker answers one question: Metrics checks RED; Logs checks 3 minutes; Traces checks top 5 spans; Topology checks dependencies; Changes checks recent deploys.</a:t>
            </a:r>
          </a:p>
          <a:p>
            <a:r>
              <a:t>• None of them has ambient access to explore outside their lane.</a:t>
            </a:r>
          </a:p>
          <a:p>
            <a:br/>
            <a:r>
              <a:t>TRANSITION: And what do they return? Structured verdicts.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Highlight that negative evidence stops engineers from wasting time.</a:t>
            </a:r>
          </a:p>
          <a:p>
            <a:br/>
            <a:r>
              <a:t>TALK TRACK:</a:t>
            </a:r>
          </a:p>
          <a:p>
            <a:r>
              <a:t>• Proving that the database is healthy is just as valuable as finding an error in the auth pod.</a:t>
            </a:r>
          </a:p>
          <a:p>
            <a:r>
              <a:t>• Workers return structured JSON verdicts: 'status: rejected', with exact metric proofs.</a:t>
            </a:r>
          </a:p>
          <a:p>
            <a:r>
              <a:t>• This eliminates circular arguments and prevents people from re-checking components that are operating normally.</a:t>
            </a:r>
          </a:p>
          <a:p>
            <a:br/>
            <a:r>
              <a:t>TRANSITION: Here is the complete sequence in motion.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end-to-end timeline smoothly.</a:t>
            </a:r>
          </a:p>
          <a:p>
            <a:br/>
            <a:r>
              <a:t>TALK TRACK:</a:t>
            </a:r>
          </a:p>
          <a:p>
            <a:r>
              <a:t>• Walk through the steps: Alert fires -&gt; Coordinator creates incident record -&gt; 5 workers fan out concurrently.</a:t>
            </a:r>
          </a:p>
          <a:p>
            <a:r>
              <a:t>• Results collect -&gt; Synthesis correlates timeline -&gt; Root cause proposed -&gt; Human approval gate.</a:t>
            </a:r>
          </a:p>
          <a:p>
            <a:r>
              <a:t>• Total elapsed time: under 45 seconds from initial trigger to actionable verdict.</a:t>
            </a:r>
          </a:p>
          <a:p>
            <a:br/>
            <a:r>
              <a:t>TRANSITION: Now let's examine the security boundaries that make this safe.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prompt injection cannot compromise cluster infrastructure.</a:t>
            </a:r>
          </a:p>
          <a:p>
            <a:br/>
            <a:r>
              <a:t>TALK TRACK:</a:t>
            </a:r>
          </a:p>
          <a:p>
            <a:r>
              <a:t>• Notice how permissions are isolated across all four tiers:</a:t>
            </a:r>
          </a:p>
          <a:p>
            <a:r>
              <a:t>• The Orchestrator holds no Grafana credentials. The MCP Gateway has zero write endpoints.</a:t>
            </a:r>
          </a:p>
          <a:p>
            <a:r>
              <a:t>• Even if someone injected malicious text into an application log, the gateway physically cannot execute write commands.</a:t>
            </a:r>
          </a:p>
          <a:p>
            <a:br/>
            <a:r>
              <a:t>TRANSITION: What about Slack and Teams interaction? How do chat buttons work?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secure ChatOps button handling.</a:t>
            </a:r>
          </a:p>
          <a:p>
            <a:br/>
            <a:r>
              <a:t>TALK TRACK:</a:t>
            </a:r>
          </a:p>
          <a:p>
            <a:r>
              <a:t>• A Slack button click never runs a script directly.</a:t>
            </a:r>
          </a:p>
          <a:p>
            <a:r>
              <a:t>• It sends an intent payload to the backend server with a single-use cryptographic nonce.</a:t>
            </a:r>
          </a:p>
          <a:p>
            <a:r>
              <a:t>• The server verifies caller RBAC, ensures the incident is in the correct state, and rejects duplicate or stale clicks.</a:t>
            </a:r>
          </a:p>
          <a:p>
            <a:br/>
            <a:r>
              <a:t>TRANSITION: Once mitigation is approved and applied, how do we confirm recovery?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Describe closed-loop validation after applying a fix.</a:t>
            </a:r>
          </a:p>
          <a:p>
            <a:br/>
            <a:r>
              <a:t>TALK TRACK:</a:t>
            </a:r>
          </a:p>
          <a:p>
            <a:r>
              <a:t>• Applying a fix isn't the end of an incident.</a:t>
            </a:r>
          </a:p>
          <a:p>
            <a:r>
              <a:t>• The engine waits for 3 consecutive evaluation windows (3x 60s) to verify error rates return below SLO thresholds.</a:t>
            </a:r>
          </a:p>
          <a:p>
            <a:r>
              <a:t>• Only when metrics confirm recovery does the state machine transition to Resolved.</a:t>
            </a:r>
          </a:p>
          <a:p>
            <a:br/>
            <a:r>
              <a:t>TRANSITION: And when it resolves, the post-mortem is already finished.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Showcase the immediate practical benefit: zero manual post-mortem writing.</a:t>
            </a:r>
          </a:p>
          <a:p>
            <a:br/>
            <a:r>
              <a:t>TALK TRACK:</a:t>
            </a:r>
          </a:p>
          <a:p>
            <a:r>
              <a:t>• Nobody likes writing post-mortems days later when memory fades and metric charts have expired.</a:t>
            </a:r>
          </a:p>
          <a:p>
            <a:r>
              <a:t>• Because our engine recorded every step as an auditable state transition, the post-mortem compiles automatically upon resolution.</a:t>
            </a:r>
          </a:p>
          <a:p>
            <a:r>
              <a:t>• All timestamps, rejected hypotheses, and metric proofs are already organized for final human sign-off.</a:t>
            </a:r>
          </a:p>
          <a:p>
            <a:br/>
            <a:r>
              <a:t>TRANSITION: Let's summarize the architecture comparison side-by-side.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Compare raw log dumping against bounded evidence.</a:t>
            </a:r>
          </a:p>
          <a:p>
            <a:br/>
            <a:r>
              <a:t>TALK TRACK:</a:t>
            </a:r>
          </a:p>
          <a:p>
            <a:r>
              <a:t>• Be transparent about the trade-off: this requires building clean telemetry and recording rules.</a:t>
            </a:r>
          </a:p>
          <a:p>
            <a:r>
              <a:t>• In exchange, you cut token usage from 100k down to 4k tokens, drop query latency from minutes to seconds, and eliminate cluster-admin security risks.</a:t>
            </a:r>
          </a:p>
          <a:p>
            <a:br/>
            <a:r>
              <a:t>TRANSITION: And this drastic token reduction transforms what AI models you can run.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Clarify the model selection strategy and dispel the myth that incident AI requires giant cloud LLMs.</a:t>
            </a:r>
          </a:p>
          <a:p>
            <a:br/>
            <a:r>
              <a:t>TALK TRACK:</a:t>
            </a:r>
          </a:p>
          <a:p>
            <a:r>
              <a:t>• When people hear 'AI incident engine', they assume you need a massive 128k context frontier model.</a:t>
            </a:r>
          </a:p>
          <a:p>
            <a:r>
              <a:t>• Because our MCP gateway pre-filters evidence down to 4k tokens, you can run small, fast models like Claude Haiku or GPT-4o-mini for less than a penny.</a:t>
            </a:r>
          </a:p>
          <a:p>
            <a:r>
              <a:t>• Even better: you can host local Llama 3.3 or Qwen 2.5 on Ollama inside your VPC—zero telemetry ever leaves your cluster.</a:t>
            </a:r>
          </a:p>
          <a:p>
            <a:r>
              <a:t>• And in our open-source repo today, the synthesis engine even has a pure deterministic rule fallback that works with zero external AI dependencies.</a:t>
            </a:r>
          </a:p>
          <a:p>
            <a:br/>
            <a:r>
              <a:t>TRANSITION: And we should be equally honest about what this engine cannot do.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Earn trust with senior engineers by stating hard limitations plainly.</a:t>
            </a:r>
          </a:p>
          <a:p>
            <a:br/>
            <a:r>
              <a:t>TALK TRACK:</a:t>
            </a:r>
          </a:p>
          <a:p>
            <a:r>
              <a:t>• State these upfront: correlation is never causation, and no AI can invent metrics you didn't collect.</a:t>
            </a:r>
          </a:p>
          <a:p>
            <a:r>
              <a:t>• If your service catalog is outdated or missing RED metrics, the engine cannot help you.</a:t>
            </a:r>
          </a:p>
          <a:p>
            <a:r>
              <a:t>• Most importantly: this is NOT autonomous remediation. Humans stay in the loop.</a:t>
            </a:r>
          </a:p>
          <a:p>
            <a:br/>
            <a:r>
              <a:t>TRANSITION: How can teams start implementing this today?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Provide a pragmatic, low-risk adoption path.</a:t>
            </a:r>
          </a:p>
          <a:p>
            <a:br/>
            <a:r>
              <a:t>TALK TRACK:</a:t>
            </a:r>
          </a:p>
          <a:p>
            <a:r>
              <a:t>• Do not start by deploying AI agents.</a:t>
            </a:r>
          </a:p>
          <a:p>
            <a:r>
              <a:t>• Phase 1 and Phase 2 are standard observability engineering: RED recording rules and correlated dashboards.</a:t>
            </a:r>
          </a:p>
          <a:p>
            <a:r>
              <a:t>• Once human engineers have fast correlation dashboards, adding the MCP gateway and state machine is easy.</a:t>
            </a:r>
          </a:p>
          <a:p>
            <a:br/>
            <a:r>
              <a:t>TRANSITION: Here are the three big takeaways to bring home.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Deliver three clear takeaways slowly and deliberately.</a:t>
            </a:r>
          </a:p>
          <a:p>
            <a:br/>
            <a:r>
              <a:t>TALK TRACK:</a:t>
            </a:r>
          </a:p>
          <a:p>
            <a:r>
              <a:t>• 1. Put Grafana at the evidence plane: don't build integrations on raw Prometheus and Loki directly.</a:t>
            </a:r>
          </a:p>
          <a:p>
            <a:r>
              <a:t>• 2. Never let models write queries: schemas are hard policies that prevent crashes.</a:t>
            </a:r>
          </a:p>
          <a:p>
            <a:r>
              <a:t>• 3. Persist the plan and the state: keep humans in control with auditable transitions.</a:t>
            </a:r>
          </a:p>
          <a:p>
            <a:br/>
            <a:r>
              <a:t>TRANSITION: You can run the entire system on your laptop right now.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Point audience to the working implementation.</a:t>
            </a:r>
          </a:p>
          <a:p>
            <a:br/>
            <a:r>
              <a:t>TALK TRACK:</a:t>
            </a:r>
          </a:p>
          <a:p>
            <a:r>
              <a:t>• Everything shown today is open source: Prometheus configs, Grafana dashboards, and the MCP gateway.</a:t>
            </a:r>
          </a:p>
          <a:p>
            <a:r>
              <a:t>• Run 'make up' to start the stack, and 'make fault' to simulate a real latency spike.</a:t>
            </a:r>
          </a:p>
          <a:p>
            <a:r>
              <a:t>• Keep https://github.com/eltrovert/root-cause-analytics-engine on screen for Q&amp;A.</a:t>
            </a:r>
          </a:p>
          <a:p>
            <a:br/>
            <a:r>
              <a:t>TRANSITION: Thank you everyone!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Close smoothly and open for Q&amp;A.</a:t>
            </a:r>
          </a:p>
          <a:p>
            <a:br/>
            <a:r>
              <a:t>TALK TRACK:</a:t>
            </a:r>
          </a:p>
          <a:p>
            <a:r>
              <a:t>• Thank the KCD Indonesia organizers, sponsors, and attendees.</a:t>
            </a:r>
          </a:p>
          <a:p>
            <a:r>
              <a:t>• Open the floor for questions about Prometheus, MCP, or incident state machines.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Light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" name="Google Shape;13;p2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Dark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" name="Google Shape;18;p3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ouble - Light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" name="Google Shape;21;p4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4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24" name="Google Shape;24;p4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uo - Dark">
  <p:cSld name="TITLE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5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" name="Google Shape;30;p5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31" name="Google Shape;31;p5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5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Ligh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Dark">
  <p:cSld name="TITLE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" name="Google Shape;40;p7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1">
  <p:cSld name="TITLE_1_1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/>
          <p:nvPr>
            <p:ph idx="2" type="pic"/>
          </p:nvPr>
        </p:nvSpPr>
        <p:spPr>
          <a:xfrm>
            <a:off x="44074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44" name="Google Shape;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8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47" name="Google Shape;47;p8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" name="Google Shape;48;p8"/>
          <p:cNvSpPr txBox="1"/>
          <p:nvPr>
            <p:ph type="ctrTitle"/>
          </p:nvPr>
        </p:nvSpPr>
        <p:spPr>
          <a:xfrm>
            <a:off x="3749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2">
  <p:cSld name="TITLE_1_1_1_1_3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>
            <p:ph idx="2" type="pic"/>
          </p:nvPr>
        </p:nvSpPr>
        <p:spPr>
          <a:xfrm>
            <a:off x="3749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51" name="Google Shape;5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9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54" name="Google Shape;54;p9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9"/>
          <p:cNvSpPr txBox="1"/>
          <p:nvPr>
            <p:ph type="ctrTitle"/>
          </p:nvPr>
        </p:nvSpPr>
        <p:spPr>
          <a:xfrm>
            <a:off x="48664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1">
  <p:cSld name="TITLE_1_1_1_1_3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>
            <p:ph idx="2" type="pic"/>
          </p:nvPr>
        </p:nvSpPr>
        <p:spPr>
          <a:xfrm>
            <a:off x="425250" y="931775"/>
            <a:ext cx="8293500" cy="37317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2">
  <p:cSld name="TITLE_1_1_1_1_3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/>
          <p:nvPr>
            <p:ph idx="2" type="pic"/>
          </p:nvPr>
        </p:nvSpPr>
        <p:spPr>
          <a:xfrm>
            <a:off x="0" y="931775"/>
            <a:ext cx="9144000" cy="42117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1">
  <p:cSld name="TITLE_1_1_1_1_3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2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64" name="Google Shape;64;p12"/>
          <p:cNvSpPr/>
          <p:nvPr>
            <p:ph idx="2" type="pic"/>
          </p:nvPr>
        </p:nvSpPr>
        <p:spPr>
          <a:xfrm>
            <a:off x="4407408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5" name="Google Shape;65;p12"/>
          <p:cNvSpPr/>
          <p:nvPr>
            <p:ph idx="3" type="pic"/>
          </p:nvPr>
        </p:nvSpPr>
        <p:spPr>
          <a:xfrm>
            <a:off x="6592824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6" name="Google Shape;66;p12"/>
          <p:cNvSpPr/>
          <p:nvPr>
            <p:ph idx="4" type="pic"/>
          </p:nvPr>
        </p:nvSpPr>
        <p:spPr>
          <a:xfrm>
            <a:off x="4407408" y="2733635"/>
            <a:ext cx="42612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7" name="Google Shape;67;p12"/>
          <p:cNvSpPr txBox="1"/>
          <p:nvPr>
            <p:ph idx="5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2"/>
          <p:cNvSpPr txBox="1"/>
          <p:nvPr>
            <p:ph type="ctrTitle"/>
          </p:nvPr>
        </p:nvSpPr>
        <p:spPr>
          <a:xfrm>
            <a:off x="374900" y="756425"/>
            <a:ext cx="38892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2">
  <p:cSld name="TITLE_1_1_1_1_3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3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73" name="Google Shape;73;p13"/>
          <p:cNvSpPr/>
          <p:nvPr>
            <p:ph idx="2" type="pic"/>
          </p:nvPr>
        </p:nvSpPr>
        <p:spPr>
          <a:xfrm>
            <a:off x="46912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4" name="Google Shape;74;p13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3"/>
          <p:cNvSpPr txBox="1"/>
          <p:nvPr>
            <p:ph type="ctrTitle"/>
          </p:nvPr>
        </p:nvSpPr>
        <p:spPr>
          <a:xfrm>
            <a:off x="46912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6" name="Google Shape;76;p13"/>
          <p:cNvSpPr txBox="1"/>
          <p:nvPr>
            <p:ph idx="1" type="subTitle"/>
          </p:nvPr>
        </p:nvSpPr>
        <p:spPr>
          <a:xfrm>
            <a:off x="46912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3"/>
          <p:cNvSpPr/>
          <p:nvPr>
            <p:ph idx="4" type="pic"/>
          </p:nvPr>
        </p:nvSpPr>
        <p:spPr>
          <a:xfrm>
            <a:off x="3194849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8" name="Google Shape;78;p13"/>
          <p:cNvSpPr txBox="1"/>
          <p:nvPr>
            <p:ph idx="5" type="ctrTitle"/>
          </p:nvPr>
        </p:nvSpPr>
        <p:spPr>
          <a:xfrm>
            <a:off x="3194850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9" name="Google Shape;79;p13"/>
          <p:cNvSpPr txBox="1"/>
          <p:nvPr>
            <p:ph idx="6" type="subTitle"/>
          </p:nvPr>
        </p:nvSpPr>
        <p:spPr>
          <a:xfrm>
            <a:off x="3194850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0" name="Google Shape;80;p13"/>
          <p:cNvSpPr/>
          <p:nvPr>
            <p:ph idx="7" type="pic"/>
          </p:nvPr>
        </p:nvSpPr>
        <p:spPr>
          <a:xfrm>
            <a:off x="592057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81" name="Google Shape;81;p13"/>
          <p:cNvSpPr txBox="1"/>
          <p:nvPr>
            <p:ph idx="8" type="ctrTitle"/>
          </p:nvPr>
        </p:nvSpPr>
        <p:spPr>
          <a:xfrm>
            <a:off x="592057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82" name="Google Shape;82;p13"/>
          <p:cNvSpPr txBox="1"/>
          <p:nvPr>
            <p:ph idx="9" type="subTitle"/>
          </p:nvPr>
        </p:nvSpPr>
        <p:spPr>
          <a:xfrm>
            <a:off x="592057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1">
  <p:cSld name="TITLE_1_1_1_1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4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4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87" name="Google Shape;87;p14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4"/>
          <p:cNvSpPr txBox="1"/>
          <p:nvPr>
            <p:ph type="ctrTitle"/>
          </p:nvPr>
        </p:nvSpPr>
        <p:spPr>
          <a:xfrm>
            <a:off x="374900" y="710025"/>
            <a:ext cx="3614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9" name="Google Shape;89;p14"/>
          <p:cNvSpPr txBox="1"/>
          <p:nvPr>
            <p:ph idx="1" type="body"/>
          </p:nvPr>
        </p:nvSpPr>
        <p:spPr>
          <a:xfrm>
            <a:off x="4672575" y="710025"/>
            <a:ext cx="3986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2">
  <p:cSld name="TITLE_1_1_1_1_3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5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94" name="Google Shape;94;p15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15"/>
          <p:cNvSpPr txBox="1"/>
          <p:nvPr>
            <p:ph idx="1" type="body"/>
          </p:nvPr>
        </p:nvSpPr>
        <p:spPr>
          <a:xfrm>
            <a:off x="374899" y="710028"/>
            <a:ext cx="37953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96" name="Google Shape;96;p15"/>
          <p:cNvSpPr txBox="1"/>
          <p:nvPr>
            <p:ph type="ctrTitle"/>
          </p:nvPr>
        </p:nvSpPr>
        <p:spPr>
          <a:xfrm>
            <a:off x="4759425" y="710025"/>
            <a:ext cx="37554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1">
  <p:cSld name="TITLE_1_1_1_1_3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1" name="Google Shape;101;p16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2" name="Google Shape;102;p16"/>
          <p:cNvSpPr txBox="1"/>
          <p:nvPr>
            <p:ph type="ctrTitle"/>
          </p:nvPr>
        </p:nvSpPr>
        <p:spPr>
          <a:xfrm>
            <a:off x="39896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39896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04" name="Google Shape;104;p16"/>
          <p:cNvSpPr/>
          <p:nvPr>
            <p:ph idx="3" type="pic"/>
          </p:nvPr>
        </p:nvSpPr>
        <p:spPr>
          <a:xfrm>
            <a:off x="4755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2">
  <p:cSld name="TITLE_1_1_1_1_3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" name="Google Shape;108;p17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9" name="Google Shape;109;p17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" name="Google Shape;110;p17"/>
          <p:cNvSpPr txBox="1"/>
          <p:nvPr>
            <p:ph type="ctrTitle"/>
          </p:nvPr>
        </p:nvSpPr>
        <p:spPr>
          <a:xfrm>
            <a:off x="4755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4755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12" name="Google Shape;112;p17"/>
          <p:cNvSpPr/>
          <p:nvPr>
            <p:ph idx="3" type="pic"/>
          </p:nvPr>
        </p:nvSpPr>
        <p:spPr>
          <a:xfrm>
            <a:off x="54734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Quote">
  <p:cSld name="TITLE_1_1_1_1_3_1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" name="Google Shape;116;p18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 txBox="1"/>
          <p:nvPr>
            <p:ph type="ctrTitle"/>
          </p:nvPr>
        </p:nvSpPr>
        <p:spPr>
          <a:xfrm>
            <a:off x="1249825" y="13124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hank You">
  <p:cSld name="TITLE_1_1_1_1_3_1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9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" name="Google Shape;122;p19"/>
          <p:cNvSpPr txBox="1"/>
          <p:nvPr/>
        </p:nvSpPr>
        <p:spPr>
          <a:xfrm>
            <a:off x="2483400" y="1392325"/>
            <a:ext cx="41772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chemeClr val="lt1"/>
                </a:solidFill>
                <a:latin typeface="Chivo Mono"/>
                <a:ea typeface="Chivo Mono"/>
                <a:cs typeface="Chivo Mono"/>
                <a:sym typeface="Chivo Mono"/>
              </a:rPr>
              <a:t>THANK YOU</a:t>
            </a:r>
            <a:endParaRPr b="1" sz="4800">
              <a:solidFill>
                <a:schemeClr val="lt1"/>
              </a:solidFill>
              <a:latin typeface="Chivo Mono"/>
              <a:ea typeface="Chivo Mono"/>
              <a:cs typeface="Chivo Mono"/>
              <a:sym typeface="Chivo Mono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ivo Mono SemiBold"/>
              <a:buNone/>
              <a:defRPr sz="28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Char char="●"/>
              <a:defRPr sz="1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2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Building a Root Cause Analytics Engine</a:t>
            </a:r>
          </a:p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with Prometheus, Grafana, and MCP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El Muhammad Cholid H.  ·  Founder, DevOps Focus Group</a:t>
            </a:r>
          </a:p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Kubernetes Community Days Indonesia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When an alert fires at 3am,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the clock starts ticking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Alerts tell you users are hurting, but never why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The hardest part of on-call isn't typing the fix: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changed first in the distributed system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Which service is the real root cause versus cascade victim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How far the blast radius has spread across dependencies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exact hypothesis to verify next without guessing</a:t>
            </a:r>
          </a:p>
          <a:p>
            <a:pPr>
              <a:spcBef>
                <a:spcPts val="800"/>
              </a:spcBef>
              <a:buNone/>
            </a:pPr>
            <a:br/>
            <a:r>
              <a:rPr sz="1200" b="1">
                <a:solidFill>
                  <a:srgbClr val="0A61F4"/>
                </a:solidFill>
                <a:latin typeface="Arial"/>
              </a:rPr>
              <a:t>The on-call reality:</a:t>
            </a:r>
            <a:br/>
            <a:r>
              <a:rPr sz="1200" b="1">
                <a:solidFill>
                  <a:srgbClr val="0A61F4"/>
                </a:solidFill>
                <a:latin typeface="Arial"/>
              </a:rPr>
              <a:t>You spend 40 minutes jumping across 12 dashboard tabs, grep-ing endless logs, and hoping your intuition holds.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obvious instinct is to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point an LLM at your logs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Why unconstrained diagnostic agents break down: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Massive context waste: </a:t>
            </a:r>
            <a:r>
              <a:rPr sz="1100" b="0">
                <a:solidFill>
                  <a:srgbClr val="102A43"/>
                </a:solidFill>
                <a:latin typeface="Arial"/>
              </a:rPr>
              <a:t>Dumping gigabytes of raw logs floods context windows with irrelevant noise.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Hallucinated causality: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mistake downstream cascade symptoms for primary root causes.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Unbounded latency &amp; cost: </a:t>
            </a:r>
            <a:r>
              <a:rPr sz="1100" b="0">
                <a:solidFill>
                  <a:srgbClr val="102A43"/>
                </a:solidFill>
                <a:latin typeface="Arial"/>
              </a:rPr>
              <a:t>Open-ended exploration spins on endless log streams.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Security hazard: </a:t>
            </a:r>
            <a:r>
              <a:rPr sz="1100" b="0">
                <a:solidFill>
                  <a:srgbClr val="102A43"/>
                </a:solidFill>
                <a:latin typeface="Arial"/>
              </a:rPr>
              <a:t>Broad kubectl or cluster-admin privileges handed to model prompts.</a:t>
            </a:r>
          </a:p>
        </p:txBody>
      </p:sp>
      <p:pic>
        <p:nvPicPr>
          <p:cNvPr id="4" name="Picture 3" descr="naiv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914400"/>
            <a:ext cx="3657600" cy="30094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Instead of searching blindly, bound the evidence first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Answer the first five minutes with three disciplined layers of proof: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1. Metrics (RED)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Rate, Errors, Duration &amp; Saturation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Metrics establish correlation, not causation.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Their job is to isolate when the anomaly began and narrow candidate services to a small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2. Traces (Path)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Distributed Call Graph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Traces bound the path across services.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They identify which upstream caller triggered which failing downstream dependency in the call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3. Logs (Targeted)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Exception &amp; Stack Proof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Targeted error signature proof.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Queried ONLY after metrics and traces isolate the time window to seconds and target to one pod. Used for confirmation, never discovery.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Grafana is where telemetry turns into correlation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Prometheus, Loki, and Tempo hold the data. Grafana correlates them, and MCP exposes read-only questions.</a:t>
            </a:r>
          </a:p>
        </p:txBody>
      </p:sp>
      <p:pic>
        <p:nvPicPr>
          <p:cNvPr id="4" name="Picture 3" descr="evidence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8046720" cy="17049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Evidence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telemetry / Repo: fixed templates over 3 services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Correlation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enterprise Grafana / Repo: public starter dashboard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auth proxy / Repo: standalone read-only server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Incident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full incident ticketing / Repo: clean persisted state machine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Validation: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canary check suite / Repo: one-click fault toggle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Taking an enterprise pattern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and making it reproducible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How we rebuilt proprietary production controls into an open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Never let an LLM write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raw PromQL in production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gateway translates intent into verified recording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Hallucination Risk: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hallucinate metric names and label keys under incident stress.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Cluster Safety: </a:t>
            </a:r>
            <a:r>
              <a:rPr sz="1100" b="0">
                <a:solidFill>
                  <a:srgbClr val="102A43"/>
                </a:solidFill>
                <a:latin typeface="Arial"/>
              </a:rPr>
              <a:t>Unguarded regex PromQL can easily crash production Prometheus instances.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Deterministic RED: </a:t>
            </a:r>
            <a:r>
              <a:rPr sz="1100" b="0">
                <a:solidFill>
                  <a:srgbClr val="102A43"/>
                </a:solidFill>
                <a:latin typeface="Arial"/>
              </a:rPr>
              <a:t>Vetted recording rules pre-compute RED metrics deterministically.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Parameter Injection: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The model supplies parameters; the gateway executes verified templates.</a:t>
            </a:r>
          </a:p>
        </p:txBody>
      </p:sp>
      <p:pic>
        <p:nvPicPr>
          <p:cNvPr id="4" name="Picture 3" descr="code_prom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1715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Enforce security in schemas,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in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Tool schemas act as executable, hard-coded guardrails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Extra Properties: </a:t>
            </a:r>
            <a:r>
              <a:rPr sz="1100" b="0">
                <a:solidFill>
                  <a:srgbClr val="102A43"/>
                </a:solidFill>
                <a:latin typeface="Arial"/>
              </a:rPr>
              <a:t>additionalProperties: false rejects injected unexpected arguments.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Enum Constrained: </a:t>
            </a:r>
            <a:r>
              <a:rPr sz="1100" b="0">
                <a:solidFill>
                  <a:srgbClr val="102A43"/>
                </a:solidFill>
                <a:latin typeface="Arial"/>
              </a:rPr>
              <a:t>Enums constrain targets to verified service catalog entries only.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Bounded Windows: </a:t>
            </a:r>
            <a:r>
              <a:rPr sz="1100" b="0">
                <a:solidFill>
                  <a:srgbClr val="102A43"/>
                </a:solidFill>
                <a:latin typeface="Arial"/>
              </a:rPr>
              <a:t>Time windows are bounded: impossible to query full year history.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Immediate Rejection: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Violations reject instantly at MCP layer before touching datasources.</a:t>
            </a:r>
          </a:p>
        </p:txBody>
      </p:sp>
      <p:pic>
        <p:nvPicPr>
          <p:cNvPr id="4" name="Picture 3" descr="cod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19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Every state change must be an auditable human decision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 explicit state machine where transitions require proof, and automated actions remain locked.</a:t>
            </a:r>
          </a:p>
        </p:txBody>
      </p:sp>
      <p:pic>
        <p:nvPicPr>
          <p:cNvPr id="4" name="Picture 3" descr="incident-state-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8046720" cy="2487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alert builds a shared plan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before anyone runs queries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Persisted incident scope created immediately upon trigger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Persisted State: </a:t>
            </a:r>
            <a:r>
              <a:rPr sz="1100" b="0">
                <a:solidFill>
                  <a:srgbClr val="102A43"/>
                </a:solidFill>
                <a:latin typeface="Arial"/>
              </a:rPr>
              <a:t>Plan is persisted to storage before any worker executes diagnostic queries.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Live Collaboration: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can view and edit the hypothesis queue live in incident chat.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Runaway Loops: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duplicate queries and runaway investigation branches.</a:t>
            </a:r>
          </a:p>
        </p:txBody>
      </p:sp>
      <p:pic>
        <p:nvPicPr>
          <p:cNvPr id="4" name="Picture 3" descr="cod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69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Five focused workers asking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five narrow questions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Parallel investigation without ambient cluster authority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Worker Boundaries: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RED metrics &amp; saturation. Zero PromQL.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Logs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error signatures in a 3-minute window.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Trace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Inspects top 5 slowest/failing spans only.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Topology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Resolves service dependency tree from catalog.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Changes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Checks recent deployments &amp; config diffs in past 30m.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Ruling out a false lead is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just as valuable as the fix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Structured evidence verdicts eliminate subjective debate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Equally Valuable: </a:t>
            </a:r>
            <a:r>
              <a:rPr sz="1100" b="0">
                <a:solidFill>
                  <a:srgbClr val="102A43"/>
                </a:solidFill>
                <a:latin typeface="Arial"/>
              </a:rPr>
              <a:t>A rejected hypothesis is as valuable as a confirmed one.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Clear Auditing: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immediately see what was ruled out and why.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Circular Logic: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circular arguments and re-testing known good subsystems.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Restricted Context: </a:t>
            </a:r>
            <a:r>
              <a:rPr sz="1100" b="0">
                <a:solidFill>
                  <a:srgbClr val="102A43"/>
                </a:solidFill>
                <a:latin typeface="Arial"/>
              </a:rPr>
              <a:t>Coordinator receives structured verdicts, never raw dumps.</a:t>
            </a:r>
          </a:p>
        </p:txBody>
      </p:sp>
      <p:pic>
        <p:nvPicPr>
          <p:cNvPr id="4" name="Picture 3" descr="code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354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the entire investigation unfolds end to end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 ➔ Incident plan ➔ Parallel workers ➔ Synthesized root cause ➔ Human gate</a:t>
            </a:r>
          </a:p>
        </p:txBody>
      </p:sp>
      <p:pic>
        <p:nvPicPr>
          <p:cNvPr id="4" name="Picture 3" descr="investigation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737360"/>
            <a:ext cx="488547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pic>
        <p:nvPicPr>
          <p:cNvPr id="3" name="Picture 2" descr="dependency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3108960" cy="34315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31920" y="73152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Architecture enforces trust,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polite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Strict least-privilege security controls across four layers: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Orchestrator: </a:t>
            </a:r>
            <a:r>
              <a:rPr sz="1100" b="0">
                <a:solidFill>
                  <a:srgbClr val="102A43"/>
                </a:solidFill>
                <a:latin typeface="Arial"/>
              </a:rPr>
              <a:t>Schedules tasks &amp; state. Has ZERO Grafana source credentials.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100" b="0">
                <a:solidFill>
                  <a:srgbClr val="102A43"/>
                </a:solidFill>
                <a:latin typeface="Arial"/>
              </a:rPr>
              <a:t>Read-only access to Grafana. Rejects all mutations and write calls.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Workers: </a:t>
            </a:r>
            <a:r>
              <a:rPr sz="1100" b="0">
                <a:solidFill>
                  <a:srgbClr val="102A43"/>
                </a:solidFill>
                <a:latin typeface="Arial"/>
              </a:rPr>
              <a:t>Ephemeral processes with single-purpose schema tokens.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Engine: </a:t>
            </a:r>
            <a:r>
              <a:rPr sz="1100" b="0">
                <a:solidFill>
                  <a:srgbClr val="102A43"/>
                </a:solidFill>
                <a:latin typeface="Arial"/>
              </a:rPr>
              <a:t>Requires explicit cryptographic token from human chat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Chat buttons request actions,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the backend verifies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Slack and Teams ChatOps pattern with cryptographic nonces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Direct Execution: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A chat button never triggers an action or shell script directly.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Server-Side RBAC: </a:t>
            </a:r>
            <a:r>
              <a:rPr sz="1100" b="0">
                <a:solidFill>
                  <a:srgbClr val="102A43"/>
                </a:solidFill>
                <a:latin typeface="Arial"/>
              </a:rPr>
              <a:t>The server validates actor identity, incident phase, and nonce freshness.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Replay Protection: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Stale or duplicate button clicks are rejected harmlessly.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Cryptographic Tokens: </a:t>
            </a:r>
            <a:r>
              <a:rPr sz="1100" b="0">
                <a:solidFill>
                  <a:srgbClr val="102A43"/>
                </a:solidFill>
                <a:latin typeface="Arial"/>
              </a:rPr>
              <a:t>Approved actions receive single-use scoped execution tokens.</a:t>
            </a:r>
          </a:p>
        </p:txBody>
      </p:sp>
      <p:pic>
        <p:nvPicPr>
          <p:cNvPr id="4" name="Picture 3" descr="code_chat_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427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 human applies the fix,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telemetry proves it worked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Closing the loop with automated verification cycles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Post-Mitigation Validation Cycle: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Applied: </a:t>
            </a:r>
            <a:r>
              <a:rPr sz="1200" b="0">
                <a:solidFill>
                  <a:srgbClr val="102A43"/>
                </a:solidFill>
                <a:latin typeface="Arial"/>
              </a:rPr>
              <a:t>Engineer approves deployment rollback or traffic re-route.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Automated Health 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Gateway monitors 3 consecutive evaluation cycles (3x 60s).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Error Rate Re-check: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Verifies payment-service error rate drops below 0.1% SLO threshold.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Auto-Resolution: </a:t>
            </a:r>
            <a:r>
              <a:rPr sz="1200" b="0">
                <a:solidFill>
                  <a:srgbClr val="102A43"/>
                </a:solidFill>
                <a:latin typeface="Arial"/>
              </a:rPr>
              <a:t>Transitions state to Resolved only when telemetry proves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post-mortem assembles itself while you fix the incident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draft builds deterministically from the audit trail, waiting for human sign-off.</a:t>
            </a:r>
          </a:p>
        </p:txBody>
      </p:sp>
      <p:pic>
        <p:nvPicPr>
          <p:cNvPr id="4" name="Picture 3" descr="rca-draf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8046720" cy="397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46888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Automated Post-Mortem Assembly Lifecycle: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1. Resolution Acknowledged: </a:t>
            </a:r>
            <a:r>
              <a:rPr sz="1100" b="0">
                <a:solidFill>
                  <a:srgbClr val="102A43"/>
                </a:solidFill>
                <a:latin typeface="Arial"/>
              </a:rPr>
              <a:t>Incident recovery event freezes evidence collection and triggers post-mortem generation.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2. Structured Record Pull: </a:t>
            </a:r>
            <a:r>
              <a:rPr sz="1100" b="0">
                <a:solidFill>
                  <a:srgbClr val="102A43"/>
                </a:solidFill>
                <a:latin typeface="Arial"/>
              </a:rPr>
              <a:t>Gathers alert timestamps, hypotheses tested/rejected, and confirmed telemetry verdicts.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3. Template Merge: </a:t>
            </a:r>
            <a:r>
              <a:rPr sz="1100" b="0">
                <a:solidFill>
                  <a:srgbClr val="102A43"/>
                </a:solidFill>
                <a:latin typeface="Arial"/>
              </a:rPr>
              <a:t>Renders the data into the standardized incident report format without manual copy-pasting.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4. Draft Created: </a:t>
            </a:r>
            <a:r>
              <a:rPr sz="1100" b="0">
                <a:solidFill>
                  <a:srgbClr val="102A43"/>
                </a:solidFill>
                <a:latin typeface="Arial"/>
              </a:rPr>
              <a:t>Stores draft in designated incident review location with immutable audit links.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5. Human Review: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 verifies accuracy, adds organizational context, and signs off.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6. Distribution: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Publishes final post-mortem report to incident channels and stakeholder teams.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Query Scope: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unbounded dump / RCA Engine: bounded RED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Plan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implicit model thoughts / RCA Engine: persisted, auditable state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Token Cost: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100k+ tokens / RCA Engine: &lt; 4k structured tokens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Security Privileges: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kubectl cluster-admin / RCA Engine: read-only scoped MCP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Human Control: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hope model behaves / RCA Engine: state machine approval gates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Why bounding the evidence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beats dumping the logs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Comparing the two architectures across five production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Small models win when the evidence is pre-filtered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Because the gateway returns structured findings under 4k tokens, model choice becomes flexible: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560320" cy="288036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3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Local / Air-Gapped</a:t>
            </a:r>
          </a:p>
          <a:p>
            <a:pPr>
              <a:spcAft>
                <a:spcPts val="8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Ollama / vLLM (Private)</a:t>
            </a:r>
          </a:p>
          <a:p>
            <a:pPr>
              <a:buNone/>
            </a:pPr>
            <a:r>
              <a:rPr sz="1100" b="0">
                <a:solidFill>
                  <a:srgbClr val="102A43"/>
                </a:solidFill>
                <a:latin typeface="Arial"/>
              </a:rPr>
              <a:t>• Runs 100% inside your Kubernetes cluster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Models: Llama 3.3 70B, Qwen 2.5 32B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Zero production telemetry leaves your VPC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Ideal for banking, healthcare, and air-gapped gov clouds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91640"/>
            <a:ext cx="2560320" cy="288036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3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Lightweight Cloud</a:t>
            </a:r>
          </a:p>
          <a:p>
            <a:pPr>
              <a:spcAft>
                <a:spcPts val="8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Fast Reasoning Tier</a:t>
            </a:r>
          </a:p>
          <a:p>
            <a:pPr>
              <a:buNone/>
            </a:pPr>
            <a:r>
              <a:rPr sz="1100" b="0">
                <a:solidFill>
                  <a:srgbClr val="102A43"/>
                </a:solidFill>
                <a:latin typeface="Arial"/>
              </a:rPr>
              <a:t>• Fast, cheap cloud API integration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Models: Claude 3.5 Haiku, GPT-4o-mini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Entire incident triage costs &lt; $0.01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Latency: sub-second synthesis response times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2560320" cy="288036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3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Zero-Dependency Rule</a:t>
            </a:r>
          </a:p>
          <a:p>
            <a:pPr>
              <a:spcAft>
                <a:spcPts val="8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Deterministic Fallback</a:t>
            </a:r>
          </a:p>
          <a:p>
            <a:pPr>
              <a:buNone/>
            </a:pPr>
            <a:r>
              <a:rPr sz="1100" b="0">
                <a:solidFill>
                  <a:srgbClr val="102A43"/>
                </a:solidFill>
                <a:latin typeface="Arial"/>
              </a:rPr>
              <a:t>• Pure Go / TypeScript heuristics engine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Zero LLM dependency or API keys required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Evaluates RED anomalies and regex signatures deterministically</a:t>
            </a:r>
            <a:br/>
            <a:r>
              <a:rPr sz="1100" b="0">
                <a:solidFill>
                  <a:srgbClr val="102A43"/>
                </a:solidFill>
                <a:latin typeface="Arial"/>
              </a:rPr>
              <a:t>• Included in our open-source demo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Where this design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deliberately stops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Clear boundaries that maintain engineering credibility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Hard Limits of the Engine: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give correlation, not causation: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Proving services degraded together != physical proof of bug.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Cannot fix missing telemetry: </a:t>
            </a:r>
            <a:r>
              <a:rPr sz="1200" b="0">
                <a:solidFill>
                  <a:srgbClr val="102A43"/>
                </a:solidFill>
                <a:latin typeface="Arial"/>
              </a:rPr>
              <a:t>If a service exports no RED metrics, the gateway cannot invent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Unmaintained dependency graphs fail: </a:t>
            </a:r>
            <a:r>
              <a:rPr sz="1200" b="0">
                <a:solidFill>
                  <a:srgbClr val="102A43"/>
                </a:solidFill>
                <a:latin typeface="Arial"/>
              </a:rPr>
              <a:t>Stale service catalogs cause the coordinator to miss cascade paths.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Not autonomous remediation: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Does not restart pods or alter routing without explicit human signoff.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to build this incrementally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without boiling the ocean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 4-step adoption roadmap that delivers value from day 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Phased Adoption Roadmap: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1: Telemetry &amp; Rules: </a:t>
            </a:r>
            <a:r>
              <a:rPr sz="1200" b="0">
                <a:solidFill>
                  <a:srgbClr val="102A43"/>
                </a:solidFill>
                <a:latin typeface="Arial"/>
              </a:rPr>
              <a:t>Standardize RED metrics and Prometheus recording rules on tier-1 services.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2: Grafana Correlation: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Build single-pane dashboard linking metrics, Loki logs, and Tempo traces.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3: Read-Only 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Wrap dashboard queries in structured, parameterized tool schemas.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4: State Machine &amp; RCA: </a:t>
            </a:r>
            <a:r>
              <a:rPr sz="1200" b="0">
                <a:solidFill>
                  <a:srgbClr val="102A43"/>
                </a:solidFill>
                <a:latin typeface="Arial"/>
              </a:rPr>
              <a:t>Add incident state machine, hypothesis queue, and chat approval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400"/>
              </a:spcAft>
              <a:buNone/>
            </a:pPr>
            <a:r>
              <a:rPr sz="2400" b="1">
                <a:solidFill>
                  <a:srgbClr val="05052D"/>
                </a:solidFill>
                <a:latin typeface="Arial"/>
              </a:rPr>
              <a:t>Three principles to take back to your team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1. Put Grafana at the evidence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Prometheus and Loki hold truth; Grafana correlates them. Build tooling at the correlation layer, not individual datasources.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2. The model never writes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Tool schemas are executable policies. Expose narrow, parameterized questions with zero dynamic query syntax.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3. Persist the plan and the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Keep humans in control with auditable state transitions, visible hypotheses, and explicit approval gates.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Try the entire stack locally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on your machine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Clone the repo and run the three-service demo with Docker Compose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023360" y="822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Everything in this talk is runnable in the demo repo: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Prometheus recording rules &amp; alert configurations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Grafana correlation dashboard with RED metric panels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Read-only Model Context Protocol (MCP) gateway server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Contained fault-injection switch to trigger synthetic incidents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Step-by-step Makefile: make up &amp;&amp; make fault</a:t>
            </a:r>
          </a:p>
          <a:p>
            <a:pPr>
              <a:spcBef>
                <a:spcPts val="800"/>
              </a:spcBef>
              <a:buNone/>
            </a:pPr>
            <a:br/>
            <a:r>
              <a:rPr sz="1200" b="1">
                <a:solidFill>
                  <a:srgbClr val="0A61F4"/>
                </a:solidFill>
                <a:latin typeface="Arial"/>
              </a:rPr>
              <a:t>Repo: github.com/eltrovert/root-cause-analytics-engine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CD Indonesia 2026 - Speaker Template">
  <a:themeElements>
    <a:clrScheme name="Simple Light">
      <a:dk1>
        <a:srgbClr val="05052D"/>
      </a:dk1>
      <a:lt1>
        <a:srgbClr val="FFFFFF"/>
      </a:lt1>
      <a:dk2>
        <a:srgbClr val="595959"/>
      </a:dk2>
      <a:lt2>
        <a:srgbClr val="EEEEEE"/>
      </a:lt2>
      <a:accent1>
        <a:srgbClr val="0A61F4"/>
      </a:accent1>
      <a:accent2>
        <a:srgbClr val="43D4FE"/>
      </a:accent2>
      <a:accent3>
        <a:srgbClr val="1D7CFE"/>
      </a:accent3>
      <a:accent4>
        <a:srgbClr val="A1A7F2"/>
      </a:accent4>
      <a:accent5>
        <a:srgbClr val="F36F44"/>
      </a:accent5>
      <a:accent6>
        <a:srgbClr val="DBDBDB"/>
      </a:accent6>
      <a:hlink>
        <a:srgbClr val="0A61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